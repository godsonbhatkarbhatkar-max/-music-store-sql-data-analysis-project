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68" r:id="rId3"/>
    <p:sldId id="257" r:id="rId4"/>
    <p:sldId id="258" r:id="rId5"/>
    <p:sldId id="259" r:id="rId6"/>
    <p:sldId id="260" r:id="rId7"/>
    <p:sldId id="261" r:id="rId8"/>
    <p:sldId id="264" r:id="rId9"/>
    <p:sldId id="262" r:id="rId10"/>
    <p:sldId id="263" r:id="rId11"/>
    <p:sldId id="265" r:id="rId12"/>
    <p:sldId id="266" r:id="rId13"/>
    <p:sldId id="267" r:id="rId1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65" d="100"/>
          <a:sy n="65" d="100"/>
        </p:scale>
        <p:origin x="684" y="4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7572EE2E-55EB-4F94-98FF-98203BD7FC38}"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10DE7C-AC84-4C17-8E5E-25BCC646E87B}" type="slidenum">
              <a:rPr lang="en-IN" smtClean="0"/>
              <a:t>‹#›</a:t>
            </a:fld>
            <a:endParaRPr lang="en-IN"/>
          </a:p>
        </p:txBody>
      </p:sp>
    </p:spTree>
    <p:extLst>
      <p:ext uri="{BB962C8B-B14F-4D97-AF65-F5344CB8AC3E}">
        <p14:creationId xmlns:p14="http://schemas.microsoft.com/office/powerpoint/2010/main" val="21620005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72EE2E-55EB-4F94-98FF-98203BD7FC38}"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10DE7C-AC84-4C17-8E5E-25BCC646E87B}" type="slidenum">
              <a:rPr lang="en-IN" smtClean="0"/>
              <a:t>‹#›</a:t>
            </a:fld>
            <a:endParaRPr lang="en-IN"/>
          </a:p>
        </p:txBody>
      </p:sp>
    </p:spTree>
    <p:extLst>
      <p:ext uri="{BB962C8B-B14F-4D97-AF65-F5344CB8AC3E}">
        <p14:creationId xmlns:p14="http://schemas.microsoft.com/office/powerpoint/2010/main" val="6945656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7572EE2E-55EB-4F94-98FF-98203BD7FC38}"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10DE7C-AC84-4C17-8E5E-25BCC646E87B}" type="slidenum">
              <a:rPr lang="en-IN" smtClean="0"/>
              <a:t>‹#›</a:t>
            </a:fld>
            <a:endParaRPr lang="en-IN"/>
          </a:p>
        </p:txBody>
      </p:sp>
    </p:spTree>
    <p:extLst>
      <p:ext uri="{BB962C8B-B14F-4D97-AF65-F5344CB8AC3E}">
        <p14:creationId xmlns:p14="http://schemas.microsoft.com/office/powerpoint/2010/main" val="5610437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572EE2E-55EB-4F94-98FF-98203BD7FC38}" type="datetimeFigureOut">
              <a:rPr lang="en-IN" smtClean="0"/>
              <a:t>02-03-2026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610DE7C-AC84-4C17-8E5E-25BCC646E87B}" type="slidenum">
              <a:rPr lang="en-IN" smtClean="0"/>
              <a:t>‹#›</a:t>
            </a:fld>
            <a:endParaRPr lang="en-IN"/>
          </a:p>
        </p:txBody>
      </p:sp>
    </p:spTree>
    <p:extLst>
      <p:ext uri="{BB962C8B-B14F-4D97-AF65-F5344CB8AC3E}">
        <p14:creationId xmlns:p14="http://schemas.microsoft.com/office/powerpoint/2010/main" val="3270326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572EE2E-55EB-4F94-98FF-98203BD7FC38}" type="datetimeFigureOut">
              <a:rPr lang="en-IN" smtClean="0"/>
              <a:t>02-03-2026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4610DE7C-AC84-4C17-8E5E-25BCC646E87B}" type="slidenum">
              <a:rPr lang="en-IN" smtClean="0"/>
              <a:t>‹#›</a:t>
            </a:fld>
            <a:endParaRPr lang="en-IN"/>
          </a:p>
        </p:txBody>
      </p:sp>
    </p:spTree>
    <p:extLst>
      <p:ext uri="{BB962C8B-B14F-4D97-AF65-F5344CB8AC3E}">
        <p14:creationId xmlns:p14="http://schemas.microsoft.com/office/powerpoint/2010/main" val="6422744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572EE2E-55EB-4F94-98FF-98203BD7FC38}" type="datetimeFigureOut">
              <a:rPr lang="en-IN" smtClean="0"/>
              <a:t>02-03-2026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610DE7C-AC84-4C17-8E5E-25BCC646E87B}" type="slidenum">
              <a:rPr lang="en-IN" smtClean="0"/>
              <a:t>‹#›</a:t>
            </a:fld>
            <a:endParaRPr lang="en-IN"/>
          </a:p>
        </p:txBody>
      </p:sp>
    </p:spTree>
    <p:extLst>
      <p:ext uri="{BB962C8B-B14F-4D97-AF65-F5344CB8AC3E}">
        <p14:creationId xmlns:p14="http://schemas.microsoft.com/office/powerpoint/2010/main" val="4121311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72EE2E-55EB-4F94-98FF-98203BD7FC38}" type="datetimeFigureOut">
              <a:rPr lang="en-IN" smtClean="0"/>
              <a:t>02-03-2026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4610DE7C-AC84-4C17-8E5E-25BCC646E87B}" type="slidenum">
              <a:rPr lang="en-IN" smtClean="0"/>
              <a:t>‹#›</a:t>
            </a:fld>
            <a:endParaRPr lang="en-IN"/>
          </a:p>
        </p:txBody>
      </p:sp>
    </p:spTree>
    <p:extLst>
      <p:ext uri="{BB962C8B-B14F-4D97-AF65-F5344CB8AC3E}">
        <p14:creationId xmlns:p14="http://schemas.microsoft.com/office/powerpoint/2010/main" val="606099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572EE2E-55EB-4F94-98FF-98203BD7FC38}" type="datetimeFigureOut">
              <a:rPr lang="en-IN" smtClean="0"/>
              <a:t>02-03-2026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610DE7C-AC84-4C17-8E5E-25BCC646E87B}" type="slidenum">
              <a:rPr lang="en-IN" smtClean="0"/>
              <a:t>‹#›</a:t>
            </a:fld>
            <a:endParaRPr lang="en-IN"/>
          </a:p>
        </p:txBody>
      </p:sp>
    </p:spTree>
    <p:extLst>
      <p:ext uri="{BB962C8B-B14F-4D97-AF65-F5344CB8AC3E}">
        <p14:creationId xmlns:p14="http://schemas.microsoft.com/office/powerpoint/2010/main" val="292643501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572EE2E-55EB-4F94-98FF-98203BD7FC38}" type="datetimeFigureOut">
              <a:rPr lang="en-IN" smtClean="0"/>
              <a:t>02-03-2026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610DE7C-AC84-4C17-8E5E-25BCC646E87B}" type="slidenum">
              <a:rPr lang="en-IN" smtClean="0"/>
              <a:t>‹#›</a:t>
            </a:fld>
            <a:endParaRPr lang="en-IN"/>
          </a:p>
        </p:txBody>
      </p:sp>
    </p:spTree>
    <p:extLst>
      <p:ext uri="{BB962C8B-B14F-4D97-AF65-F5344CB8AC3E}">
        <p14:creationId xmlns:p14="http://schemas.microsoft.com/office/powerpoint/2010/main" val="3094469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572EE2E-55EB-4F94-98FF-98203BD7FC38}" type="datetimeFigureOut">
              <a:rPr lang="en-IN" smtClean="0"/>
              <a:t>02-03-2026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610DE7C-AC84-4C17-8E5E-25BCC646E87B}" type="slidenum">
              <a:rPr lang="en-IN" smtClean="0"/>
              <a:t>‹#›</a:t>
            </a:fld>
            <a:endParaRPr lang="en-IN"/>
          </a:p>
        </p:txBody>
      </p:sp>
    </p:spTree>
    <p:extLst>
      <p:ext uri="{BB962C8B-B14F-4D97-AF65-F5344CB8AC3E}">
        <p14:creationId xmlns:p14="http://schemas.microsoft.com/office/powerpoint/2010/main" val="1262879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572EE2E-55EB-4F94-98FF-98203BD7FC38}" type="datetimeFigureOut">
              <a:rPr lang="en-IN" smtClean="0"/>
              <a:t>02-03-2026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610DE7C-AC84-4C17-8E5E-25BCC646E87B}" type="slidenum">
              <a:rPr lang="en-IN" smtClean="0"/>
              <a:t>‹#›</a:t>
            </a:fld>
            <a:endParaRPr lang="en-IN"/>
          </a:p>
        </p:txBody>
      </p:sp>
    </p:spTree>
    <p:extLst>
      <p:ext uri="{BB962C8B-B14F-4D97-AF65-F5344CB8AC3E}">
        <p14:creationId xmlns:p14="http://schemas.microsoft.com/office/powerpoint/2010/main" val="8910826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572EE2E-55EB-4F94-98FF-98203BD7FC38}" type="datetimeFigureOut">
              <a:rPr lang="en-IN" smtClean="0"/>
              <a:t>02-03-2026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610DE7C-AC84-4C17-8E5E-25BCC646E87B}" type="slidenum">
              <a:rPr lang="en-IN" smtClean="0"/>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0147438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572EE2E-55EB-4F94-98FF-98203BD7FC38}" type="datetimeFigureOut">
              <a:rPr lang="en-IN" smtClean="0"/>
              <a:t>02-03-2026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4610DE7C-AC84-4C17-8E5E-25BCC646E87B}" type="slidenum">
              <a:rPr lang="en-IN" smtClean="0"/>
              <a:t>‹#›</a:t>
            </a:fld>
            <a:endParaRPr lang="en-IN"/>
          </a:p>
        </p:txBody>
      </p:sp>
    </p:spTree>
    <p:extLst>
      <p:ext uri="{BB962C8B-B14F-4D97-AF65-F5344CB8AC3E}">
        <p14:creationId xmlns:p14="http://schemas.microsoft.com/office/powerpoint/2010/main" val="39281775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572EE2E-55EB-4F94-98FF-98203BD7FC38}" type="datetimeFigureOut">
              <a:rPr lang="en-IN" smtClean="0"/>
              <a:t>02-03-2026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610DE7C-AC84-4C17-8E5E-25BCC646E87B}" type="slidenum">
              <a:rPr lang="en-IN" smtClean="0"/>
              <a:t>‹#›</a:t>
            </a:fld>
            <a:endParaRPr lang="en-IN"/>
          </a:p>
        </p:txBody>
      </p:sp>
    </p:spTree>
    <p:extLst>
      <p:ext uri="{BB962C8B-B14F-4D97-AF65-F5344CB8AC3E}">
        <p14:creationId xmlns:p14="http://schemas.microsoft.com/office/powerpoint/2010/main" val="41197013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572EE2E-55EB-4F94-98FF-98203BD7FC38}" type="datetimeFigureOut">
              <a:rPr lang="en-IN" smtClean="0"/>
              <a:t>02-03-2026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4610DE7C-AC84-4C17-8E5E-25BCC646E87B}" type="slidenum">
              <a:rPr lang="en-IN" smtClean="0"/>
              <a:t>‹#›</a:t>
            </a:fld>
            <a:endParaRPr lang="en-IN"/>
          </a:p>
        </p:txBody>
      </p:sp>
    </p:spTree>
    <p:extLst>
      <p:ext uri="{BB962C8B-B14F-4D97-AF65-F5344CB8AC3E}">
        <p14:creationId xmlns:p14="http://schemas.microsoft.com/office/powerpoint/2010/main" val="101190753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72EE2E-55EB-4F94-98FF-98203BD7FC38}"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10DE7C-AC84-4C17-8E5E-25BCC646E87B}" type="slidenum">
              <a:rPr lang="en-IN" smtClean="0"/>
              <a:t>‹#›</a:t>
            </a:fld>
            <a:endParaRPr lang="en-IN"/>
          </a:p>
        </p:txBody>
      </p:sp>
    </p:spTree>
    <p:extLst>
      <p:ext uri="{BB962C8B-B14F-4D97-AF65-F5344CB8AC3E}">
        <p14:creationId xmlns:p14="http://schemas.microsoft.com/office/powerpoint/2010/main" val="21590875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572EE2E-55EB-4F94-98FF-98203BD7FC38}" type="datetimeFigureOut">
              <a:rPr lang="en-IN" smtClean="0"/>
              <a:t>02-03-2026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4610DE7C-AC84-4C17-8E5E-25BCC646E87B}" type="slidenum">
              <a:rPr lang="en-IN" smtClean="0"/>
              <a:t>‹#›</a:t>
            </a:fld>
            <a:endParaRPr lang="en-IN"/>
          </a:p>
        </p:txBody>
      </p:sp>
    </p:spTree>
    <p:extLst>
      <p:ext uri="{BB962C8B-B14F-4D97-AF65-F5344CB8AC3E}">
        <p14:creationId xmlns:p14="http://schemas.microsoft.com/office/powerpoint/2010/main" val="7538019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7572EE2E-55EB-4F94-98FF-98203BD7FC38}" type="datetimeFigureOut">
              <a:rPr lang="en-IN" smtClean="0"/>
              <a:t>02-03-2026</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610DE7C-AC84-4C17-8E5E-25BCC646E87B}" type="slidenum">
              <a:rPr lang="en-IN" smtClean="0"/>
              <a:t>‹#›</a:t>
            </a:fld>
            <a:endParaRPr lang="en-IN"/>
          </a:p>
        </p:txBody>
      </p:sp>
    </p:spTree>
    <p:extLst>
      <p:ext uri="{BB962C8B-B14F-4D97-AF65-F5344CB8AC3E}">
        <p14:creationId xmlns:p14="http://schemas.microsoft.com/office/powerpoint/2010/main" val="2164174624"/>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 Id="rId4" Type="http://schemas.openxmlformats.org/officeDocument/2006/relationships/image" Target="../media/image24.png"/></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6.xml"/><Relationship Id="rId4" Type="http://schemas.openxmlformats.org/officeDocument/2006/relationships/image" Target="../media/image27.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F9DAE-8CD5-242C-9892-E3D913D56244}"/>
              </a:ext>
            </a:extLst>
          </p:cNvPr>
          <p:cNvSpPr>
            <a:spLocks noGrp="1"/>
          </p:cNvSpPr>
          <p:nvPr>
            <p:ph type="ctrTitle"/>
          </p:nvPr>
        </p:nvSpPr>
        <p:spPr>
          <a:xfrm>
            <a:off x="1135781" y="1122363"/>
            <a:ext cx="5896391" cy="2387600"/>
          </a:xfrm>
        </p:spPr>
        <p:txBody>
          <a:bodyPr>
            <a:normAutofit/>
          </a:bodyPr>
          <a:lstStyle/>
          <a:p>
            <a:r>
              <a:rPr lang="en-US"/>
              <a:t>Music Store</a:t>
            </a:r>
            <a:endParaRPr lang="en-IN"/>
          </a:p>
        </p:txBody>
      </p:sp>
      <p:sp>
        <p:nvSpPr>
          <p:cNvPr id="3" name="Subtitle 2">
            <a:extLst>
              <a:ext uri="{FF2B5EF4-FFF2-40B4-BE49-F238E27FC236}">
                <a16:creationId xmlns:a16="http://schemas.microsoft.com/office/drawing/2014/main" id="{DDBD161C-A2AB-2FE4-60AD-C2E3FBC37BB8}"/>
              </a:ext>
            </a:extLst>
          </p:cNvPr>
          <p:cNvSpPr>
            <a:spLocks noGrp="1"/>
          </p:cNvSpPr>
          <p:nvPr>
            <p:ph type="subTitle" idx="1"/>
          </p:nvPr>
        </p:nvSpPr>
        <p:spPr>
          <a:xfrm>
            <a:off x="1135781" y="3602038"/>
            <a:ext cx="5896391" cy="1655762"/>
          </a:xfrm>
        </p:spPr>
        <p:txBody>
          <a:bodyPr>
            <a:normAutofit/>
          </a:bodyPr>
          <a:lstStyle/>
          <a:p>
            <a:r>
              <a:rPr lang="en-US" b="1"/>
              <a:t>SQL Database</a:t>
            </a:r>
            <a:endParaRPr lang="en-IN" b="1"/>
          </a:p>
        </p:txBody>
      </p:sp>
      <p:pic>
        <p:nvPicPr>
          <p:cNvPr id="7" name="Graphic 6" descr="Music">
            <a:extLst>
              <a:ext uri="{FF2B5EF4-FFF2-40B4-BE49-F238E27FC236}">
                <a16:creationId xmlns:a16="http://schemas.microsoft.com/office/drawing/2014/main" id="{8F8C64A1-B54F-95F6-B2B4-8D0B7BC311D4}"/>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xmlns="" r:embed="rId4"/>
              </a:ext>
            </a:extLst>
          </a:blip>
          <a:stretch>
            <a:fillRect/>
          </a:stretch>
        </p:blipFill>
        <p:spPr>
          <a:xfrm>
            <a:off x="7678736" y="1488697"/>
            <a:ext cx="3402767" cy="3402767"/>
          </a:xfrm>
          <a:prstGeom prst="rect">
            <a:avLst/>
          </a:prstGeom>
          <a:ln w="190500" cap="sq">
            <a:solidFill>
              <a:srgbClr val="FFFFFF"/>
            </a:solidFill>
            <a:miter lim="800000"/>
          </a:ln>
          <a:effectLst>
            <a:outerShdw blurRad="54991" dist="17780" dir="5400000" algn="ctr" rotWithShape="0">
              <a:schemeClr val="bg1">
                <a:alpha val="40000"/>
              </a:schemeClr>
            </a:outerShdw>
          </a:effectLst>
          <a:scene3d>
            <a:camera prst="orthographicFront"/>
            <a:lightRig rig="twoPt" dir="t">
              <a:rot lat="0" lon="0" rev="7200000"/>
            </a:lightRig>
          </a:scene3d>
          <a:sp3d>
            <a:bevelT w="25400" h="19050"/>
          </a:sp3d>
        </p:spPr>
      </p:pic>
    </p:spTree>
    <p:extLst>
      <p:ext uri="{BB962C8B-B14F-4D97-AF65-F5344CB8AC3E}">
        <p14:creationId xmlns:p14="http://schemas.microsoft.com/office/powerpoint/2010/main" val="9589613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2">
                <a:shade val="18000"/>
                <a:satMod val="160000"/>
                <a:lumMod val="28000"/>
              </a:schemeClr>
              <a:schemeClr val="bg2">
                <a:tint val="95000"/>
                <a:satMod val="160000"/>
                <a:lumMod val="116000"/>
              </a:schemeClr>
            </a:duotone>
          </a:blip>
          <a:stretch/>
        </a:blipFill>
        <a:effectLst/>
      </p:bgPr>
    </p:bg>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4DAEB897-81FC-A76F-7BB4-80858E98808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a:xfrm>
            <a:off x="20" y="10"/>
            <a:ext cx="12191980" cy="6857990"/>
          </a:xfrm>
          <a:prstGeom prst="rect">
            <a:avLst/>
          </a:prstGeom>
        </p:spPr>
      </p:pic>
    </p:spTree>
    <p:extLst>
      <p:ext uri="{BB962C8B-B14F-4D97-AF65-F5344CB8AC3E}">
        <p14:creationId xmlns:p14="http://schemas.microsoft.com/office/powerpoint/2010/main" val="34280178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996A54-0CDD-4A46-B3D2-02F43219A75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D07EC67-E5AB-3C96-C63D-15A646B30DD2}"/>
              </a:ext>
            </a:extLst>
          </p:cNvPr>
          <p:cNvSpPr>
            <a:spLocks noGrp="1"/>
          </p:cNvSpPr>
          <p:nvPr>
            <p:ph type="title"/>
          </p:nvPr>
        </p:nvSpPr>
        <p:spPr>
          <a:xfrm>
            <a:off x="696686" y="1122001"/>
            <a:ext cx="3040685" cy="4613999"/>
          </a:xfrm>
        </p:spPr>
        <p:txBody>
          <a:bodyPr vert="horz" lIns="91440" tIns="45720" rIns="91440" bIns="45720" rtlCol="0" anchor="ctr">
            <a:normAutofit/>
          </a:bodyPr>
          <a:lstStyle/>
          <a:p>
            <a:pPr algn="l"/>
            <a:r>
              <a:rPr lang="en-US" sz="2400">
                <a:solidFill>
                  <a:srgbClr val="FFFFFF"/>
                </a:solidFill>
              </a:rPr>
              <a:t>1. Who is the senior most employee based on job title?</a:t>
            </a:r>
          </a:p>
        </p:txBody>
      </p:sp>
      <p:sp useBgFill="1">
        <p:nvSpPr>
          <p:cNvPr id="10" name="Rectangle 9">
            <a:extLst>
              <a:ext uri="{FF2B5EF4-FFF2-40B4-BE49-F238E27FC236}">
                <a16:creationId xmlns:a16="http://schemas.microsoft.com/office/drawing/2014/main" id="{06F0BB8C-8C08-44AD-9EBB-B43BE66A5B3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129" y="0"/>
            <a:ext cx="812987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5094E7B-6FB0-19EA-F814-65C13F91A08B}"/>
              </a:ext>
            </a:extLst>
          </p:cNvPr>
          <p:cNvSpPr txBox="1"/>
          <p:nvPr/>
        </p:nvSpPr>
        <p:spPr>
          <a:xfrm>
            <a:off x="4711641" y="1122001"/>
            <a:ext cx="6566564" cy="1168915"/>
          </a:xfrm>
          <a:prstGeom prst="rect">
            <a:avLst/>
          </a:prstGeom>
        </p:spPr>
        <p:txBody>
          <a:bodyPr vert="horz" lIns="91440" tIns="45720" rIns="91440" bIns="45720" rtlCol="0" anchor="ctr">
            <a:normAutofit/>
          </a:bodyPr>
          <a:lstStyle/>
          <a:p>
            <a:pPr defTabSz="914400">
              <a:lnSpc>
                <a:spcPct val="120000"/>
              </a:lnSpc>
              <a:spcAft>
                <a:spcPts val="600"/>
              </a:spcAft>
            </a:pPr>
            <a:endParaRPr lang="en-US" sz="1600" dirty="0">
              <a:effectLst>
                <a:outerShdw blurRad="50800" dist="38100" dir="2700000" algn="tl" rotWithShape="0">
                  <a:srgbClr val="000000">
                    <a:alpha val="48000"/>
                  </a:srgbClr>
                </a:outerShdw>
              </a:effectLst>
            </a:endParaRPr>
          </a:p>
        </p:txBody>
      </p:sp>
      <p:pic>
        <p:nvPicPr>
          <p:cNvPr id="5" name="Picture 4"/>
          <p:cNvPicPr>
            <a:picLocks noChangeAspect="1"/>
          </p:cNvPicPr>
          <p:nvPr/>
        </p:nvPicPr>
        <p:blipFill>
          <a:blip r:embed="rId2"/>
          <a:stretch>
            <a:fillRect/>
          </a:stretch>
        </p:blipFill>
        <p:spPr>
          <a:xfrm>
            <a:off x="4062129" y="3238299"/>
            <a:ext cx="8078327" cy="676369"/>
          </a:xfrm>
          <a:prstGeom prst="rect">
            <a:avLst/>
          </a:prstGeom>
        </p:spPr>
      </p:pic>
      <p:pic>
        <p:nvPicPr>
          <p:cNvPr id="6" name="Picture 5"/>
          <p:cNvPicPr>
            <a:picLocks noChangeAspect="1"/>
          </p:cNvPicPr>
          <p:nvPr/>
        </p:nvPicPr>
        <p:blipFill>
          <a:blip r:embed="rId3"/>
          <a:stretch>
            <a:fillRect/>
          </a:stretch>
        </p:blipFill>
        <p:spPr>
          <a:xfrm>
            <a:off x="4434058" y="810983"/>
            <a:ext cx="2981741" cy="1790950"/>
          </a:xfrm>
          <a:prstGeom prst="rect">
            <a:avLst/>
          </a:prstGeom>
        </p:spPr>
      </p:pic>
    </p:spTree>
    <p:extLst>
      <p:ext uri="{BB962C8B-B14F-4D97-AF65-F5344CB8AC3E}">
        <p14:creationId xmlns:p14="http://schemas.microsoft.com/office/powerpoint/2010/main" val="1771908538"/>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996A54-0CDD-4A46-B3D2-02F43219A75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CF5B0E-A9CC-FC71-ABFC-FB2104F44E77}"/>
              </a:ext>
            </a:extLst>
          </p:cNvPr>
          <p:cNvSpPr>
            <a:spLocks noGrp="1"/>
          </p:cNvSpPr>
          <p:nvPr>
            <p:ph type="title"/>
          </p:nvPr>
        </p:nvSpPr>
        <p:spPr>
          <a:xfrm>
            <a:off x="696686" y="1122001"/>
            <a:ext cx="3040685" cy="4613999"/>
          </a:xfrm>
        </p:spPr>
        <p:txBody>
          <a:bodyPr vert="horz" lIns="91440" tIns="45720" rIns="91440" bIns="45720" rtlCol="0" anchor="ctr">
            <a:normAutofit/>
          </a:bodyPr>
          <a:lstStyle/>
          <a:p>
            <a:pPr algn="l"/>
            <a:r>
              <a:rPr lang="en-US" sz="2400">
                <a:solidFill>
                  <a:srgbClr val="FFFFFF"/>
                </a:solidFill>
              </a:rPr>
              <a:t>2. Which countries have the most Invoices? </a:t>
            </a:r>
          </a:p>
        </p:txBody>
      </p:sp>
      <p:sp useBgFill="1">
        <p:nvSpPr>
          <p:cNvPr id="10" name="Rectangle 9">
            <a:extLst>
              <a:ext uri="{FF2B5EF4-FFF2-40B4-BE49-F238E27FC236}">
                <a16:creationId xmlns:a16="http://schemas.microsoft.com/office/drawing/2014/main" id="{06F0BB8C-8C08-44AD-9EBB-B43BE66A5B3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129" y="0"/>
            <a:ext cx="812987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991A35E7-02F9-C7AA-F169-7DE14EBA045E}"/>
              </a:ext>
            </a:extLst>
          </p:cNvPr>
          <p:cNvSpPr txBox="1"/>
          <p:nvPr/>
        </p:nvSpPr>
        <p:spPr>
          <a:xfrm>
            <a:off x="4711641" y="1122001"/>
            <a:ext cx="6566564" cy="4761274"/>
          </a:xfrm>
          <a:prstGeom prst="rect">
            <a:avLst/>
          </a:prstGeom>
        </p:spPr>
        <p:txBody>
          <a:bodyPr vert="horz" lIns="91440" tIns="45720" rIns="91440" bIns="45720" rtlCol="0" anchor="ctr">
            <a:normAutofit/>
          </a:bodyPr>
          <a:lstStyle/>
          <a:p>
            <a:pPr indent="-228600" defTabSz="914400">
              <a:lnSpc>
                <a:spcPct val="120000"/>
              </a:lnSpc>
              <a:spcAft>
                <a:spcPts val="600"/>
              </a:spcAft>
              <a:buFont typeface="Arial" panose="020B0604020202020204" pitchFamily="34" charset="0"/>
              <a:buChar char="•"/>
            </a:pPr>
            <a:endParaRPr lang="en-US" sz="1600" dirty="0">
              <a:effectLst>
                <a:outerShdw blurRad="50800" dist="38100" dir="2700000" algn="tl" rotWithShape="0">
                  <a:srgbClr val="000000">
                    <a:alpha val="48000"/>
                  </a:srgbClr>
                </a:outerShdw>
              </a:effectLst>
            </a:endParaRPr>
          </a:p>
        </p:txBody>
      </p:sp>
      <p:pic>
        <p:nvPicPr>
          <p:cNvPr id="4" name="Picture 3"/>
          <p:cNvPicPr>
            <a:picLocks noChangeAspect="1"/>
          </p:cNvPicPr>
          <p:nvPr/>
        </p:nvPicPr>
        <p:blipFill>
          <a:blip r:embed="rId2"/>
          <a:stretch>
            <a:fillRect/>
          </a:stretch>
        </p:blipFill>
        <p:spPr>
          <a:xfrm>
            <a:off x="4434058" y="424964"/>
            <a:ext cx="5582429" cy="1819529"/>
          </a:xfrm>
          <a:prstGeom prst="rect">
            <a:avLst/>
          </a:prstGeom>
        </p:spPr>
      </p:pic>
      <p:pic>
        <p:nvPicPr>
          <p:cNvPr id="5" name="Picture 4"/>
          <p:cNvPicPr>
            <a:picLocks noChangeAspect="1"/>
          </p:cNvPicPr>
          <p:nvPr/>
        </p:nvPicPr>
        <p:blipFill>
          <a:blip r:embed="rId3"/>
          <a:stretch>
            <a:fillRect/>
          </a:stretch>
        </p:blipFill>
        <p:spPr>
          <a:xfrm>
            <a:off x="4619418" y="2982668"/>
            <a:ext cx="2953162" cy="1752845"/>
          </a:xfrm>
          <a:prstGeom prst="rect">
            <a:avLst/>
          </a:prstGeom>
        </p:spPr>
      </p:pic>
    </p:spTree>
    <p:extLst>
      <p:ext uri="{BB962C8B-B14F-4D97-AF65-F5344CB8AC3E}">
        <p14:creationId xmlns:p14="http://schemas.microsoft.com/office/powerpoint/2010/main" val="2527292903"/>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996A54-0CDD-4A46-B3D2-02F43219A75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3DCAC4-2B6C-ED2C-ACAB-D38ED5DFCDE1}"/>
              </a:ext>
            </a:extLst>
          </p:cNvPr>
          <p:cNvSpPr>
            <a:spLocks noGrp="1"/>
          </p:cNvSpPr>
          <p:nvPr>
            <p:ph type="title"/>
          </p:nvPr>
        </p:nvSpPr>
        <p:spPr>
          <a:xfrm>
            <a:off x="696686" y="1122001"/>
            <a:ext cx="3040685" cy="4613999"/>
          </a:xfrm>
        </p:spPr>
        <p:txBody>
          <a:bodyPr vert="horz" lIns="91440" tIns="45720" rIns="91440" bIns="45720" rtlCol="0" anchor="ctr">
            <a:normAutofit/>
          </a:bodyPr>
          <a:lstStyle/>
          <a:p>
            <a:pPr algn="l"/>
            <a:r>
              <a:rPr lang="en-US" sz="2400">
                <a:solidFill>
                  <a:srgbClr val="FFFFFF"/>
                </a:solidFill>
              </a:rPr>
              <a:t>3. What are top 3 values of total invoice?</a:t>
            </a:r>
          </a:p>
        </p:txBody>
      </p:sp>
      <p:sp useBgFill="1">
        <p:nvSpPr>
          <p:cNvPr id="10" name="Rectangle 9">
            <a:extLst>
              <a:ext uri="{FF2B5EF4-FFF2-40B4-BE49-F238E27FC236}">
                <a16:creationId xmlns:a16="http://schemas.microsoft.com/office/drawing/2014/main" id="{06F0BB8C-8C08-44AD-9EBB-B43BE66A5B3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129" y="0"/>
            <a:ext cx="812987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2EEA621-AFA2-4809-9138-8222D58171BE}"/>
              </a:ext>
            </a:extLst>
          </p:cNvPr>
          <p:cNvSpPr txBox="1"/>
          <p:nvPr/>
        </p:nvSpPr>
        <p:spPr>
          <a:xfrm>
            <a:off x="4711641" y="412955"/>
            <a:ext cx="6566564" cy="2615380"/>
          </a:xfrm>
          <a:prstGeom prst="rect">
            <a:avLst/>
          </a:prstGeom>
        </p:spPr>
        <p:txBody>
          <a:bodyPr vert="horz" lIns="91440" tIns="45720" rIns="91440" bIns="45720" rtlCol="0" anchor="ctr">
            <a:normAutofit/>
          </a:bodyPr>
          <a:lstStyle/>
          <a:p>
            <a:pPr defTabSz="914400">
              <a:lnSpc>
                <a:spcPct val="120000"/>
              </a:lnSpc>
              <a:spcAft>
                <a:spcPts val="600"/>
              </a:spcAft>
            </a:pPr>
            <a:endParaRPr lang="en-US" sz="1600" dirty="0">
              <a:effectLst>
                <a:outerShdw blurRad="50800" dist="38100" dir="2700000" algn="tl" rotWithShape="0">
                  <a:srgbClr val="000000">
                    <a:alpha val="48000"/>
                  </a:srgbClr>
                </a:outerShdw>
              </a:effectLst>
            </a:endParaRPr>
          </a:p>
        </p:txBody>
      </p:sp>
      <p:pic>
        <p:nvPicPr>
          <p:cNvPr id="4" name="Picture 3"/>
          <p:cNvPicPr>
            <a:picLocks noChangeAspect="1"/>
          </p:cNvPicPr>
          <p:nvPr/>
        </p:nvPicPr>
        <p:blipFill>
          <a:blip r:embed="rId2"/>
          <a:stretch>
            <a:fillRect/>
          </a:stretch>
        </p:blipFill>
        <p:spPr>
          <a:xfrm>
            <a:off x="4500339" y="670770"/>
            <a:ext cx="3191320" cy="1819529"/>
          </a:xfrm>
          <a:prstGeom prst="rect">
            <a:avLst/>
          </a:prstGeom>
        </p:spPr>
      </p:pic>
      <p:pic>
        <p:nvPicPr>
          <p:cNvPr id="5" name="Picture 4"/>
          <p:cNvPicPr>
            <a:picLocks noChangeAspect="1"/>
          </p:cNvPicPr>
          <p:nvPr/>
        </p:nvPicPr>
        <p:blipFill>
          <a:blip r:embed="rId3"/>
          <a:stretch>
            <a:fillRect/>
          </a:stretch>
        </p:blipFill>
        <p:spPr>
          <a:xfrm>
            <a:off x="4611508" y="3190565"/>
            <a:ext cx="1848108" cy="1047210"/>
          </a:xfrm>
          <a:prstGeom prst="rect">
            <a:avLst/>
          </a:prstGeom>
        </p:spPr>
      </p:pic>
    </p:spTree>
    <p:extLst>
      <p:ext uri="{BB962C8B-B14F-4D97-AF65-F5344CB8AC3E}">
        <p14:creationId xmlns:p14="http://schemas.microsoft.com/office/powerpoint/2010/main" val="2399257577"/>
      </p:ext>
    </p:extLst>
  </p:cSld>
  <p:clrMapOvr>
    <a:overrideClrMapping bg1="lt1" tx1="dk1" bg2="lt2" tx2="dk2" accent1="accent1" accent2="accent2" accent3="accent3" accent4="accent4" accent5="accent5" accent6="accent6" hlink="hlink" folHlink="folHlink"/>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996A54-0CDD-4A46-B3D2-02F43219A75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2CA7665-F26C-C58B-A838-7FCD48CF39C3}"/>
              </a:ext>
            </a:extLst>
          </p:cNvPr>
          <p:cNvSpPr>
            <a:spLocks noGrp="1"/>
          </p:cNvSpPr>
          <p:nvPr>
            <p:ph type="title"/>
          </p:nvPr>
        </p:nvSpPr>
        <p:spPr>
          <a:xfrm>
            <a:off x="696686" y="1122001"/>
            <a:ext cx="3040685" cy="4613999"/>
          </a:xfrm>
        </p:spPr>
        <p:txBody>
          <a:bodyPr vert="horz" lIns="91440" tIns="45720" rIns="91440" bIns="45720" rtlCol="0" anchor="ctr">
            <a:normAutofit/>
          </a:bodyPr>
          <a:lstStyle/>
          <a:p>
            <a:pPr algn="l"/>
            <a:r>
              <a:rPr lang="en-US" sz="1900">
                <a:solidFill>
                  <a:srgbClr val="FFFFFF"/>
                </a:solidFill>
              </a:rPr>
              <a:t>4. Which city has the best customers? We would like to throw a promotional Music Festival in the city we made the most money. Write a query that returns one city that has the highest sum of invoice totals. Return both the city name &amp; sum of all invoice totals</a:t>
            </a:r>
          </a:p>
        </p:txBody>
      </p:sp>
      <p:sp useBgFill="1">
        <p:nvSpPr>
          <p:cNvPr id="10" name="Rectangle 9">
            <a:extLst>
              <a:ext uri="{FF2B5EF4-FFF2-40B4-BE49-F238E27FC236}">
                <a16:creationId xmlns:a16="http://schemas.microsoft.com/office/drawing/2014/main" id="{06F0BB8C-8C08-44AD-9EBB-B43BE66A5B3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129" y="0"/>
            <a:ext cx="812987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E81A9F1F-1252-9523-410D-9FAF91BA304F}"/>
              </a:ext>
            </a:extLst>
          </p:cNvPr>
          <p:cNvSpPr txBox="1"/>
          <p:nvPr/>
        </p:nvSpPr>
        <p:spPr>
          <a:xfrm>
            <a:off x="4711641" y="1122001"/>
            <a:ext cx="6566564" cy="4761274"/>
          </a:xfrm>
          <a:prstGeom prst="rect">
            <a:avLst/>
          </a:prstGeom>
        </p:spPr>
        <p:txBody>
          <a:bodyPr vert="horz" lIns="91440" tIns="45720" rIns="91440" bIns="45720" rtlCol="0" anchor="ctr">
            <a:normAutofit/>
          </a:bodyPr>
          <a:lstStyle/>
          <a:p>
            <a:pPr defTabSz="914400">
              <a:lnSpc>
                <a:spcPct val="120000"/>
              </a:lnSpc>
              <a:spcAft>
                <a:spcPts val="600"/>
              </a:spcAft>
            </a:pPr>
            <a:endParaRPr lang="en-US" sz="1600" dirty="0">
              <a:effectLst>
                <a:outerShdw blurRad="50800" dist="38100" dir="2700000" algn="tl" rotWithShape="0">
                  <a:srgbClr val="000000">
                    <a:alpha val="48000"/>
                  </a:srgbClr>
                </a:outerShdw>
              </a:effectLst>
            </a:endParaRPr>
          </a:p>
        </p:txBody>
      </p:sp>
      <p:pic>
        <p:nvPicPr>
          <p:cNvPr id="4" name="Picture 3"/>
          <p:cNvPicPr>
            <a:picLocks noChangeAspect="1"/>
          </p:cNvPicPr>
          <p:nvPr/>
        </p:nvPicPr>
        <p:blipFill>
          <a:blip r:embed="rId2"/>
          <a:stretch>
            <a:fillRect/>
          </a:stretch>
        </p:blipFill>
        <p:spPr>
          <a:xfrm>
            <a:off x="4434058" y="607451"/>
            <a:ext cx="6077798" cy="2162477"/>
          </a:xfrm>
          <a:prstGeom prst="rect">
            <a:avLst/>
          </a:prstGeom>
        </p:spPr>
      </p:pic>
      <p:pic>
        <p:nvPicPr>
          <p:cNvPr id="6" name="Picture 5"/>
          <p:cNvPicPr>
            <a:picLocks noChangeAspect="1"/>
          </p:cNvPicPr>
          <p:nvPr/>
        </p:nvPicPr>
        <p:blipFill>
          <a:blip r:embed="rId3"/>
          <a:stretch>
            <a:fillRect/>
          </a:stretch>
        </p:blipFill>
        <p:spPr>
          <a:xfrm>
            <a:off x="4434058" y="3377379"/>
            <a:ext cx="2676899" cy="628738"/>
          </a:xfrm>
          <a:prstGeom prst="rect">
            <a:avLst/>
          </a:prstGeom>
        </p:spPr>
      </p:pic>
    </p:spTree>
    <p:extLst>
      <p:ext uri="{BB962C8B-B14F-4D97-AF65-F5344CB8AC3E}">
        <p14:creationId xmlns:p14="http://schemas.microsoft.com/office/powerpoint/2010/main" val="2082617107"/>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996A54-0CDD-4A46-B3D2-02F43219A75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35C1CCC-EEC3-E3A9-E97B-35BACED19900}"/>
              </a:ext>
            </a:extLst>
          </p:cNvPr>
          <p:cNvSpPr>
            <a:spLocks noGrp="1"/>
          </p:cNvSpPr>
          <p:nvPr>
            <p:ph type="title"/>
          </p:nvPr>
        </p:nvSpPr>
        <p:spPr>
          <a:xfrm>
            <a:off x="696686" y="1122001"/>
            <a:ext cx="3040685" cy="4613999"/>
          </a:xfrm>
        </p:spPr>
        <p:txBody>
          <a:bodyPr vert="horz" lIns="91440" tIns="45720" rIns="91440" bIns="45720" rtlCol="0" anchor="ctr">
            <a:normAutofit/>
          </a:bodyPr>
          <a:lstStyle/>
          <a:p>
            <a:pPr algn="l"/>
            <a:r>
              <a:rPr lang="en-US" sz="2200">
                <a:solidFill>
                  <a:srgbClr val="FFFFFF"/>
                </a:solidFill>
              </a:rPr>
              <a:t>5. Who is the best customer? The customer who has spent the most money will be declared the best customer. Write a query that returns the person who has spent the most money</a:t>
            </a:r>
          </a:p>
        </p:txBody>
      </p:sp>
      <p:sp useBgFill="1">
        <p:nvSpPr>
          <p:cNvPr id="10" name="Rectangle 9">
            <a:extLst>
              <a:ext uri="{FF2B5EF4-FFF2-40B4-BE49-F238E27FC236}">
                <a16:creationId xmlns:a16="http://schemas.microsoft.com/office/drawing/2014/main" id="{06F0BB8C-8C08-44AD-9EBB-B43BE66A5B3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129" y="0"/>
            <a:ext cx="812987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211ADF5B-57A3-2B89-7DE5-B89F40605CF6}"/>
              </a:ext>
            </a:extLst>
          </p:cNvPr>
          <p:cNvSpPr txBox="1"/>
          <p:nvPr/>
        </p:nvSpPr>
        <p:spPr>
          <a:xfrm>
            <a:off x="4711641" y="1122001"/>
            <a:ext cx="6566564" cy="4761274"/>
          </a:xfrm>
          <a:prstGeom prst="rect">
            <a:avLst/>
          </a:prstGeom>
        </p:spPr>
        <p:txBody>
          <a:bodyPr vert="horz" lIns="91440" tIns="45720" rIns="91440" bIns="45720" rtlCol="0" anchor="ctr">
            <a:normAutofit/>
          </a:bodyPr>
          <a:lstStyle/>
          <a:p>
            <a:pPr indent="-228600" defTabSz="914400">
              <a:lnSpc>
                <a:spcPct val="120000"/>
              </a:lnSpc>
              <a:spcAft>
                <a:spcPts val="600"/>
              </a:spcAft>
              <a:buFont typeface="Arial" panose="020B0604020202020204" pitchFamily="34" charset="0"/>
              <a:buChar char="•"/>
            </a:pPr>
            <a:endParaRPr lang="en-US" sz="1600" dirty="0">
              <a:effectLst>
                <a:outerShdw blurRad="50800" dist="38100" dir="2700000" algn="tl" rotWithShape="0">
                  <a:srgbClr val="000000">
                    <a:alpha val="48000"/>
                  </a:srgbClr>
                </a:outerShdw>
              </a:effectLst>
            </a:endParaRPr>
          </a:p>
        </p:txBody>
      </p:sp>
      <p:pic>
        <p:nvPicPr>
          <p:cNvPr id="5" name="Picture 4"/>
          <p:cNvPicPr>
            <a:picLocks noChangeAspect="1"/>
          </p:cNvPicPr>
          <p:nvPr/>
        </p:nvPicPr>
        <p:blipFill>
          <a:blip r:embed="rId2"/>
          <a:stretch>
            <a:fillRect/>
          </a:stretch>
        </p:blipFill>
        <p:spPr>
          <a:xfrm>
            <a:off x="4685251" y="346758"/>
            <a:ext cx="7506748" cy="3200847"/>
          </a:xfrm>
          <a:prstGeom prst="rect">
            <a:avLst/>
          </a:prstGeom>
        </p:spPr>
      </p:pic>
      <p:pic>
        <p:nvPicPr>
          <p:cNvPr id="6" name="Picture 5"/>
          <p:cNvPicPr>
            <a:picLocks noChangeAspect="1"/>
          </p:cNvPicPr>
          <p:nvPr/>
        </p:nvPicPr>
        <p:blipFill>
          <a:blip r:embed="rId3"/>
          <a:stretch>
            <a:fillRect/>
          </a:stretch>
        </p:blipFill>
        <p:spPr>
          <a:xfrm>
            <a:off x="4711638" y="4108606"/>
            <a:ext cx="4058216" cy="714475"/>
          </a:xfrm>
          <a:prstGeom prst="rect">
            <a:avLst/>
          </a:prstGeom>
        </p:spPr>
      </p:pic>
    </p:spTree>
    <p:extLst>
      <p:ext uri="{BB962C8B-B14F-4D97-AF65-F5344CB8AC3E}">
        <p14:creationId xmlns:p14="http://schemas.microsoft.com/office/powerpoint/2010/main" val="2143920598"/>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996A54-0CDD-4A46-B3D2-02F43219A75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BCF0547-0993-BD82-B789-E16CDB899EA8}"/>
              </a:ext>
            </a:extLst>
          </p:cNvPr>
          <p:cNvSpPr>
            <a:spLocks noGrp="1"/>
          </p:cNvSpPr>
          <p:nvPr>
            <p:ph type="title"/>
          </p:nvPr>
        </p:nvSpPr>
        <p:spPr>
          <a:xfrm>
            <a:off x="696686" y="1122001"/>
            <a:ext cx="3040685" cy="4613999"/>
          </a:xfrm>
        </p:spPr>
        <p:txBody>
          <a:bodyPr vert="horz" lIns="91440" tIns="45720" rIns="91440" bIns="45720" rtlCol="0" anchor="ctr">
            <a:normAutofit/>
          </a:bodyPr>
          <a:lstStyle/>
          <a:p>
            <a:pPr algn="l"/>
            <a:r>
              <a:rPr lang="en-US" sz="2200">
                <a:solidFill>
                  <a:srgbClr val="FFFFFF"/>
                </a:solidFill>
              </a:rPr>
              <a:t>1. Write query to return the email, first name, last name, &amp; Genre of all Rock Music listeners. Return your list ordered alphabetically by email starting with A</a:t>
            </a:r>
          </a:p>
        </p:txBody>
      </p:sp>
      <p:sp useBgFill="1">
        <p:nvSpPr>
          <p:cNvPr id="10" name="Rectangle 9">
            <a:extLst>
              <a:ext uri="{FF2B5EF4-FFF2-40B4-BE49-F238E27FC236}">
                <a16:creationId xmlns:a16="http://schemas.microsoft.com/office/drawing/2014/main" id="{06F0BB8C-8C08-44AD-9EBB-B43BE66A5B3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129" y="0"/>
            <a:ext cx="812987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5ACF25B9-5E2C-4FC0-A1FD-330AE4FC281D}"/>
              </a:ext>
            </a:extLst>
          </p:cNvPr>
          <p:cNvSpPr txBox="1"/>
          <p:nvPr/>
        </p:nvSpPr>
        <p:spPr>
          <a:xfrm>
            <a:off x="4711641" y="1122001"/>
            <a:ext cx="6566564" cy="4761274"/>
          </a:xfrm>
          <a:prstGeom prst="rect">
            <a:avLst/>
          </a:prstGeom>
        </p:spPr>
        <p:txBody>
          <a:bodyPr vert="horz" lIns="91440" tIns="45720" rIns="91440" bIns="45720" rtlCol="0" anchor="ctr">
            <a:normAutofit/>
          </a:bodyPr>
          <a:lstStyle/>
          <a:p>
            <a:pPr indent="-228600" defTabSz="914400">
              <a:lnSpc>
                <a:spcPct val="120000"/>
              </a:lnSpc>
              <a:spcAft>
                <a:spcPts val="600"/>
              </a:spcAft>
              <a:buFont typeface="Arial" panose="020B0604020202020204" pitchFamily="34" charset="0"/>
              <a:buChar char="•"/>
            </a:pPr>
            <a:endParaRPr lang="en-US" sz="1600" dirty="0">
              <a:effectLst>
                <a:outerShdw blurRad="50800" dist="38100" dir="2700000" algn="tl" rotWithShape="0">
                  <a:srgbClr val="000000">
                    <a:alpha val="48000"/>
                  </a:srgbClr>
                </a:outerShdw>
              </a:effectLst>
            </a:endParaRPr>
          </a:p>
        </p:txBody>
      </p:sp>
      <p:pic>
        <p:nvPicPr>
          <p:cNvPr id="4" name="Picture 3"/>
          <p:cNvPicPr>
            <a:picLocks noChangeAspect="1"/>
          </p:cNvPicPr>
          <p:nvPr/>
        </p:nvPicPr>
        <p:blipFill>
          <a:blip r:embed="rId2"/>
          <a:stretch>
            <a:fillRect/>
          </a:stretch>
        </p:blipFill>
        <p:spPr>
          <a:xfrm>
            <a:off x="4352262" y="302844"/>
            <a:ext cx="7783011" cy="3658111"/>
          </a:xfrm>
          <a:prstGeom prst="rect">
            <a:avLst/>
          </a:prstGeom>
        </p:spPr>
      </p:pic>
      <p:pic>
        <p:nvPicPr>
          <p:cNvPr id="5" name="Picture 4"/>
          <p:cNvPicPr>
            <a:picLocks noChangeAspect="1"/>
          </p:cNvPicPr>
          <p:nvPr/>
        </p:nvPicPr>
        <p:blipFill>
          <a:blip r:embed="rId3"/>
          <a:stretch>
            <a:fillRect/>
          </a:stretch>
        </p:blipFill>
        <p:spPr>
          <a:xfrm>
            <a:off x="4352262" y="4263799"/>
            <a:ext cx="5334744" cy="1619476"/>
          </a:xfrm>
          <a:prstGeom prst="rect">
            <a:avLst/>
          </a:prstGeom>
        </p:spPr>
      </p:pic>
    </p:spTree>
    <p:extLst>
      <p:ext uri="{BB962C8B-B14F-4D97-AF65-F5344CB8AC3E}">
        <p14:creationId xmlns:p14="http://schemas.microsoft.com/office/powerpoint/2010/main" val="2314485540"/>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996A54-0CDD-4A46-B3D2-02F43219A75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A1CF2E-2A87-2702-C36C-7547D6AE791A}"/>
              </a:ext>
            </a:extLst>
          </p:cNvPr>
          <p:cNvSpPr>
            <a:spLocks noGrp="1"/>
          </p:cNvSpPr>
          <p:nvPr>
            <p:ph type="title"/>
          </p:nvPr>
        </p:nvSpPr>
        <p:spPr>
          <a:xfrm>
            <a:off x="696686" y="1122001"/>
            <a:ext cx="3040685" cy="4613999"/>
          </a:xfrm>
        </p:spPr>
        <p:txBody>
          <a:bodyPr vert="horz" lIns="91440" tIns="45720" rIns="91440" bIns="45720" rtlCol="0" anchor="ctr">
            <a:normAutofit/>
          </a:bodyPr>
          <a:lstStyle/>
          <a:p>
            <a:pPr algn="l"/>
            <a:r>
              <a:rPr lang="en-US" sz="2200">
                <a:solidFill>
                  <a:srgbClr val="FFFFFF"/>
                </a:solidFill>
              </a:rPr>
              <a:t>2. Let's invite the artists who have written the most rock music in our dataset. Write a query that returns the Artist name and total track count of the top 10 rock bands </a:t>
            </a:r>
          </a:p>
        </p:txBody>
      </p:sp>
      <p:sp useBgFill="1">
        <p:nvSpPr>
          <p:cNvPr id="10" name="Rectangle 9">
            <a:extLst>
              <a:ext uri="{FF2B5EF4-FFF2-40B4-BE49-F238E27FC236}">
                <a16:creationId xmlns:a16="http://schemas.microsoft.com/office/drawing/2014/main" id="{06F0BB8C-8C08-44AD-9EBB-B43BE66A5B3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129" y="0"/>
            <a:ext cx="812987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B56ABFAF-0480-1E81-6629-14AB98C9B689}"/>
              </a:ext>
            </a:extLst>
          </p:cNvPr>
          <p:cNvSpPr txBox="1"/>
          <p:nvPr/>
        </p:nvSpPr>
        <p:spPr>
          <a:xfrm>
            <a:off x="4711641" y="1122001"/>
            <a:ext cx="6566564" cy="4761274"/>
          </a:xfrm>
          <a:prstGeom prst="rect">
            <a:avLst/>
          </a:prstGeom>
        </p:spPr>
        <p:txBody>
          <a:bodyPr vert="horz" lIns="91440" tIns="45720" rIns="91440" bIns="45720" rtlCol="0" anchor="ctr">
            <a:normAutofit/>
          </a:bodyPr>
          <a:lstStyle/>
          <a:p>
            <a:pPr defTabSz="914400">
              <a:lnSpc>
                <a:spcPct val="120000"/>
              </a:lnSpc>
              <a:spcAft>
                <a:spcPts val="600"/>
              </a:spcAft>
            </a:pPr>
            <a:endParaRPr lang="en-US" sz="1600" dirty="0">
              <a:effectLst>
                <a:outerShdw blurRad="50800" dist="38100" dir="2700000" algn="tl" rotWithShape="0">
                  <a:srgbClr val="000000">
                    <a:alpha val="48000"/>
                  </a:srgbClr>
                </a:outerShdw>
              </a:effectLst>
            </a:endParaRPr>
          </a:p>
        </p:txBody>
      </p:sp>
      <p:pic>
        <p:nvPicPr>
          <p:cNvPr id="5" name="Picture 4"/>
          <p:cNvPicPr>
            <a:picLocks noChangeAspect="1"/>
          </p:cNvPicPr>
          <p:nvPr/>
        </p:nvPicPr>
        <p:blipFill>
          <a:blip r:embed="rId2"/>
          <a:stretch>
            <a:fillRect/>
          </a:stretch>
        </p:blipFill>
        <p:spPr>
          <a:xfrm>
            <a:off x="4745218" y="122751"/>
            <a:ext cx="6763694" cy="3286584"/>
          </a:xfrm>
          <a:prstGeom prst="rect">
            <a:avLst/>
          </a:prstGeom>
        </p:spPr>
      </p:pic>
      <p:pic>
        <p:nvPicPr>
          <p:cNvPr id="6" name="Picture 5"/>
          <p:cNvPicPr>
            <a:picLocks noChangeAspect="1"/>
          </p:cNvPicPr>
          <p:nvPr/>
        </p:nvPicPr>
        <p:blipFill>
          <a:blip r:embed="rId3"/>
          <a:stretch>
            <a:fillRect/>
          </a:stretch>
        </p:blipFill>
        <p:spPr>
          <a:xfrm>
            <a:off x="5176232" y="3884505"/>
            <a:ext cx="4258269" cy="1543265"/>
          </a:xfrm>
          <a:prstGeom prst="rect">
            <a:avLst/>
          </a:prstGeom>
        </p:spPr>
      </p:pic>
    </p:spTree>
    <p:extLst>
      <p:ext uri="{BB962C8B-B14F-4D97-AF65-F5344CB8AC3E}">
        <p14:creationId xmlns:p14="http://schemas.microsoft.com/office/powerpoint/2010/main" val="685087991"/>
      </p:ext>
    </p:extLst>
  </p:cSld>
  <p:clrMapOvr>
    <a:overrideClrMapping bg1="lt1" tx1="dk1" bg2="lt2" tx2="dk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996A54-0CDD-4A46-B3D2-02F43219A75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4124C27-281D-BD6C-841B-7B4E07475A91}"/>
              </a:ext>
            </a:extLst>
          </p:cNvPr>
          <p:cNvSpPr>
            <a:spLocks noGrp="1"/>
          </p:cNvSpPr>
          <p:nvPr>
            <p:ph type="title"/>
          </p:nvPr>
        </p:nvSpPr>
        <p:spPr>
          <a:xfrm>
            <a:off x="696686" y="1122001"/>
            <a:ext cx="3040685" cy="4613999"/>
          </a:xfrm>
        </p:spPr>
        <p:txBody>
          <a:bodyPr vert="horz" lIns="91440" tIns="45720" rIns="91440" bIns="45720" rtlCol="0" anchor="ctr">
            <a:normAutofit/>
          </a:bodyPr>
          <a:lstStyle/>
          <a:p>
            <a:pPr algn="l"/>
            <a:r>
              <a:rPr lang="en-US" sz="2000">
                <a:solidFill>
                  <a:srgbClr val="FFFFFF"/>
                </a:solidFill>
              </a:rPr>
              <a:t>3. Return all the track names that have a song length longer than the average song length. Return the Name and Milliseconds for each track. Order by the song length with the longest songs listed first</a:t>
            </a:r>
          </a:p>
        </p:txBody>
      </p:sp>
      <p:sp useBgFill="1">
        <p:nvSpPr>
          <p:cNvPr id="10" name="Rectangle 9">
            <a:extLst>
              <a:ext uri="{FF2B5EF4-FFF2-40B4-BE49-F238E27FC236}">
                <a16:creationId xmlns:a16="http://schemas.microsoft.com/office/drawing/2014/main" id="{06F0BB8C-8C08-44AD-9EBB-B43BE66A5B3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129" y="0"/>
            <a:ext cx="812987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64788F35-AB84-B20F-54CF-4ADDB45CFB01}"/>
              </a:ext>
            </a:extLst>
          </p:cNvPr>
          <p:cNvSpPr txBox="1"/>
          <p:nvPr/>
        </p:nvSpPr>
        <p:spPr>
          <a:xfrm>
            <a:off x="4711641" y="1122001"/>
            <a:ext cx="6566564" cy="4761274"/>
          </a:xfrm>
          <a:prstGeom prst="rect">
            <a:avLst/>
          </a:prstGeom>
        </p:spPr>
        <p:txBody>
          <a:bodyPr vert="horz" lIns="91440" tIns="45720" rIns="91440" bIns="45720" rtlCol="0" anchor="ctr">
            <a:normAutofit/>
          </a:bodyPr>
          <a:lstStyle/>
          <a:p>
            <a:pPr defTabSz="914400">
              <a:lnSpc>
                <a:spcPct val="120000"/>
              </a:lnSpc>
              <a:spcAft>
                <a:spcPts val="600"/>
              </a:spcAft>
            </a:pPr>
            <a:endParaRPr lang="en-US" sz="1600" dirty="0">
              <a:effectLst>
                <a:outerShdw blurRad="50800" dist="38100" dir="2700000" algn="tl" rotWithShape="0">
                  <a:srgbClr val="000000">
                    <a:alpha val="48000"/>
                  </a:srgbClr>
                </a:outerShdw>
              </a:effectLst>
            </a:endParaRPr>
          </a:p>
        </p:txBody>
      </p:sp>
      <p:pic>
        <p:nvPicPr>
          <p:cNvPr id="4" name="Picture 3"/>
          <p:cNvPicPr>
            <a:picLocks noChangeAspect="1"/>
          </p:cNvPicPr>
          <p:nvPr/>
        </p:nvPicPr>
        <p:blipFill>
          <a:blip r:embed="rId2"/>
          <a:stretch>
            <a:fillRect/>
          </a:stretch>
        </p:blipFill>
        <p:spPr>
          <a:xfrm>
            <a:off x="5369192" y="354677"/>
            <a:ext cx="5515745" cy="3057952"/>
          </a:xfrm>
          <a:prstGeom prst="rect">
            <a:avLst/>
          </a:prstGeom>
        </p:spPr>
      </p:pic>
      <p:pic>
        <p:nvPicPr>
          <p:cNvPr id="5" name="Picture 4"/>
          <p:cNvPicPr>
            <a:picLocks noChangeAspect="1"/>
          </p:cNvPicPr>
          <p:nvPr/>
        </p:nvPicPr>
        <p:blipFill>
          <a:blip r:embed="rId3"/>
          <a:stretch>
            <a:fillRect/>
          </a:stretch>
        </p:blipFill>
        <p:spPr>
          <a:xfrm>
            <a:off x="5513674" y="3973629"/>
            <a:ext cx="3229426" cy="1762371"/>
          </a:xfrm>
          <a:prstGeom prst="rect">
            <a:avLst/>
          </a:prstGeom>
        </p:spPr>
      </p:pic>
    </p:spTree>
    <p:extLst>
      <p:ext uri="{BB962C8B-B14F-4D97-AF65-F5344CB8AC3E}">
        <p14:creationId xmlns:p14="http://schemas.microsoft.com/office/powerpoint/2010/main" val="3179247606"/>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8B996A54-0CDD-4A46-B3D2-02F43219A757}"/>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E7B83B-636C-94C0-F027-ACBD862DAF19}"/>
              </a:ext>
            </a:extLst>
          </p:cNvPr>
          <p:cNvSpPr>
            <a:spLocks noGrp="1"/>
          </p:cNvSpPr>
          <p:nvPr>
            <p:ph type="title"/>
          </p:nvPr>
        </p:nvSpPr>
        <p:spPr>
          <a:xfrm>
            <a:off x="696686" y="1122001"/>
            <a:ext cx="3040685" cy="4613999"/>
          </a:xfrm>
        </p:spPr>
        <p:txBody>
          <a:bodyPr vert="horz" lIns="91440" tIns="45720" rIns="91440" bIns="45720" rtlCol="0" anchor="ctr">
            <a:normAutofit/>
          </a:bodyPr>
          <a:lstStyle/>
          <a:p>
            <a:pPr algn="l"/>
            <a:r>
              <a:rPr lang="en-US" sz="2400">
                <a:solidFill>
                  <a:srgbClr val="FFFFFF"/>
                </a:solidFill>
              </a:rPr>
              <a:t>1. Find how much amount spent by each customer on artists? Write a query to return customer name, artist name and total spent </a:t>
            </a:r>
          </a:p>
        </p:txBody>
      </p:sp>
      <p:sp useBgFill="1">
        <p:nvSpPr>
          <p:cNvPr id="10" name="Rectangle 9">
            <a:extLst>
              <a:ext uri="{FF2B5EF4-FFF2-40B4-BE49-F238E27FC236}">
                <a16:creationId xmlns:a16="http://schemas.microsoft.com/office/drawing/2014/main" id="{06F0BB8C-8C08-44AD-9EBB-B43BE66A5B36}"/>
              </a:ext>
              <a:ext uri="{C183D7F6-B498-43B3-948B-1728B52AA6E4}">
                <adec:decorative xmlns:adec="http://schemas.microsoft.com/office/drawing/2017/decorative" xmlns=""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62129" y="0"/>
            <a:ext cx="8129873"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0A851220-BFEE-BEB0-78C7-E720C8D0E4EF}"/>
              </a:ext>
            </a:extLst>
          </p:cNvPr>
          <p:cNvSpPr txBox="1"/>
          <p:nvPr/>
        </p:nvSpPr>
        <p:spPr>
          <a:xfrm>
            <a:off x="4711641" y="1122001"/>
            <a:ext cx="6566564" cy="4761274"/>
          </a:xfrm>
          <a:prstGeom prst="rect">
            <a:avLst/>
          </a:prstGeom>
        </p:spPr>
        <p:txBody>
          <a:bodyPr vert="horz" lIns="91440" tIns="45720" rIns="91440" bIns="45720" rtlCol="0" anchor="ctr">
            <a:normAutofit/>
          </a:bodyPr>
          <a:lstStyle/>
          <a:p>
            <a:pPr defTabSz="914400">
              <a:lnSpc>
                <a:spcPct val="120000"/>
              </a:lnSpc>
              <a:spcAft>
                <a:spcPts val="600"/>
              </a:spcAft>
            </a:pPr>
            <a:endParaRPr lang="en-US" sz="1600" dirty="0">
              <a:effectLst>
                <a:outerShdw blurRad="50800" dist="38100" dir="2700000" algn="tl" rotWithShape="0">
                  <a:srgbClr val="000000">
                    <a:alpha val="48000"/>
                  </a:srgbClr>
                </a:outerShdw>
              </a:effectLst>
            </a:endParaRPr>
          </a:p>
        </p:txBody>
      </p:sp>
      <p:pic>
        <p:nvPicPr>
          <p:cNvPr id="7" name="Picture 6"/>
          <p:cNvPicPr>
            <a:picLocks noChangeAspect="1"/>
          </p:cNvPicPr>
          <p:nvPr/>
        </p:nvPicPr>
        <p:blipFill>
          <a:blip r:embed="rId2"/>
          <a:stretch>
            <a:fillRect/>
          </a:stretch>
        </p:blipFill>
        <p:spPr>
          <a:xfrm>
            <a:off x="4584365" y="0"/>
            <a:ext cx="5585860" cy="4741775"/>
          </a:xfrm>
          <a:prstGeom prst="rect">
            <a:avLst/>
          </a:prstGeom>
        </p:spPr>
      </p:pic>
      <p:pic>
        <p:nvPicPr>
          <p:cNvPr id="11" name="Picture 10"/>
          <p:cNvPicPr>
            <a:picLocks noChangeAspect="1"/>
          </p:cNvPicPr>
          <p:nvPr/>
        </p:nvPicPr>
        <p:blipFill>
          <a:blip r:embed="rId3"/>
          <a:stretch>
            <a:fillRect/>
          </a:stretch>
        </p:blipFill>
        <p:spPr>
          <a:xfrm>
            <a:off x="5243875" y="4937374"/>
            <a:ext cx="4121683" cy="1891802"/>
          </a:xfrm>
          <a:prstGeom prst="rect">
            <a:avLst/>
          </a:prstGeom>
        </p:spPr>
      </p:pic>
    </p:spTree>
    <p:extLst>
      <p:ext uri="{BB962C8B-B14F-4D97-AF65-F5344CB8AC3E}">
        <p14:creationId xmlns:p14="http://schemas.microsoft.com/office/powerpoint/2010/main" val="1367741021"/>
      </p:ext>
    </p:extLst>
  </p:cSld>
  <p:clrMapOvr>
    <a:overrideClrMapping bg1="lt1" tx1="dk1" bg2="lt2" tx2="dk2" accent1="accent1" accent2="accent2" accent3="accent3" accent4="accent4" accent5="accent5" accent6="accent6" hlink="hlink" folHlink="folHlink"/>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5C76D-D989-33A9-8427-B36444C13564}"/>
              </a:ext>
            </a:extLst>
          </p:cNvPr>
          <p:cNvSpPr>
            <a:spLocks noGrp="1"/>
          </p:cNvSpPr>
          <p:nvPr>
            <p:ph type="title"/>
          </p:nvPr>
        </p:nvSpPr>
        <p:spPr>
          <a:xfrm>
            <a:off x="83129" y="69272"/>
            <a:ext cx="11878886" cy="1326321"/>
          </a:xfrm>
        </p:spPr>
        <p:txBody>
          <a:bodyPr>
            <a:noAutofit/>
          </a:bodyPr>
          <a:lstStyle/>
          <a:p>
            <a:r>
              <a:rPr lang="en-US" sz="1500" dirty="0"/>
              <a:t>2. We want to find out the most popular music Genre for each country. We determine the most popular genre as the genre with the highest amount of purchases. Write a query that returns each country along with the top Genre. For countries where the maximum number of purchases is shared return all Genres </a:t>
            </a:r>
            <a:endParaRPr lang="en-IN" sz="1500" dirty="0"/>
          </a:p>
        </p:txBody>
      </p:sp>
      <p:pic>
        <p:nvPicPr>
          <p:cNvPr id="6" name="Picture 5"/>
          <p:cNvPicPr>
            <a:picLocks noChangeAspect="1"/>
          </p:cNvPicPr>
          <p:nvPr/>
        </p:nvPicPr>
        <p:blipFill>
          <a:blip r:embed="rId2"/>
          <a:stretch>
            <a:fillRect/>
          </a:stretch>
        </p:blipFill>
        <p:spPr>
          <a:xfrm>
            <a:off x="83129" y="1149787"/>
            <a:ext cx="5837622" cy="4188936"/>
          </a:xfrm>
          <a:prstGeom prst="rect">
            <a:avLst/>
          </a:prstGeom>
        </p:spPr>
      </p:pic>
      <p:pic>
        <p:nvPicPr>
          <p:cNvPr id="7" name="Picture 6"/>
          <p:cNvPicPr>
            <a:picLocks noChangeAspect="1"/>
          </p:cNvPicPr>
          <p:nvPr/>
        </p:nvPicPr>
        <p:blipFill>
          <a:blip r:embed="rId3"/>
          <a:stretch>
            <a:fillRect/>
          </a:stretch>
        </p:blipFill>
        <p:spPr>
          <a:xfrm>
            <a:off x="6154831" y="1278867"/>
            <a:ext cx="5573103" cy="1965388"/>
          </a:xfrm>
          <a:prstGeom prst="rect">
            <a:avLst/>
          </a:prstGeom>
        </p:spPr>
      </p:pic>
      <p:pic>
        <p:nvPicPr>
          <p:cNvPr id="8" name="Picture 7"/>
          <p:cNvPicPr>
            <a:picLocks noChangeAspect="1"/>
          </p:cNvPicPr>
          <p:nvPr/>
        </p:nvPicPr>
        <p:blipFill>
          <a:blip r:embed="rId4"/>
          <a:stretch>
            <a:fillRect/>
          </a:stretch>
        </p:blipFill>
        <p:spPr>
          <a:xfrm>
            <a:off x="6704996" y="3905715"/>
            <a:ext cx="4248743" cy="2133898"/>
          </a:xfrm>
          <a:prstGeom prst="rect">
            <a:avLst/>
          </a:prstGeom>
        </p:spPr>
      </p:pic>
    </p:spTree>
    <p:extLst>
      <p:ext uri="{BB962C8B-B14F-4D97-AF65-F5344CB8AC3E}">
        <p14:creationId xmlns:p14="http://schemas.microsoft.com/office/powerpoint/2010/main" val="19076866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98D60D-BEF9-609B-0414-633D47D56F1A}"/>
              </a:ext>
            </a:extLst>
          </p:cNvPr>
          <p:cNvSpPr>
            <a:spLocks noGrp="1"/>
          </p:cNvSpPr>
          <p:nvPr>
            <p:ph type="title"/>
          </p:nvPr>
        </p:nvSpPr>
        <p:spPr>
          <a:xfrm>
            <a:off x="390699" y="0"/>
            <a:ext cx="10877069" cy="727587"/>
          </a:xfrm>
        </p:spPr>
        <p:txBody>
          <a:bodyPr>
            <a:noAutofit/>
          </a:bodyPr>
          <a:lstStyle/>
          <a:p>
            <a:r>
              <a:rPr lang="en-US" sz="1200" dirty="0"/>
              <a:t>3. Write a query that determines the customer that has spent the most on music for each country. Write a query that returns the country along with the top customer and how much they spent. For countries where the top amount spent is shared, provide all customers who spent this amount</a:t>
            </a:r>
            <a:endParaRPr lang="en-IN" sz="1200" dirty="0"/>
          </a:p>
        </p:txBody>
      </p:sp>
      <p:pic>
        <p:nvPicPr>
          <p:cNvPr id="5" name="Picture 4"/>
          <p:cNvPicPr>
            <a:picLocks noChangeAspect="1"/>
          </p:cNvPicPr>
          <p:nvPr/>
        </p:nvPicPr>
        <p:blipFill>
          <a:blip r:embed="rId2"/>
          <a:stretch>
            <a:fillRect/>
          </a:stretch>
        </p:blipFill>
        <p:spPr>
          <a:xfrm>
            <a:off x="78659" y="727587"/>
            <a:ext cx="7698658" cy="3940202"/>
          </a:xfrm>
          <a:prstGeom prst="rect">
            <a:avLst/>
          </a:prstGeom>
        </p:spPr>
      </p:pic>
      <p:pic>
        <p:nvPicPr>
          <p:cNvPr id="6" name="Picture 5"/>
          <p:cNvPicPr>
            <a:picLocks noChangeAspect="1"/>
          </p:cNvPicPr>
          <p:nvPr/>
        </p:nvPicPr>
        <p:blipFill>
          <a:blip r:embed="rId3"/>
          <a:stretch>
            <a:fillRect/>
          </a:stretch>
        </p:blipFill>
        <p:spPr>
          <a:xfrm>
            <a:off x="78659" y="4667789"/>
            <a:ext cx="6834736" cy="2115710"/>
          </a:xfrm>
          <a:prstGeom prst="rect">
            <a:avLst/>
          </a:prstGeom>
        </p:spPr>
      </p:pic>
      <p:pic>
        <p:nvPicPr>
          <p:cNvPr id="7" name="Picture 6"/>
          <p:cNvPicPr>
            <a:picLocks noChangeAspect="1"/>
          </p:cNvPicPr>
          <p:nvPr/>
        </p:nvPicPr>
        <p:blipFill>
          <a:blip r:embed="rId4"/>
          <a:stretch>
            <a:fillRect/>
          </a:stretch>
        </p:blipFill>
        <p:spPr>
          <a:xfrm>
            <a:off x="7937699" y="2998352"/>
            <a:ext cx="4159893" cy="2389726"/>
          </a:xfrm>
          <a:prstGeom prst="rect">
            <a:avLst/>
          </a:prstGeom>
        </p:spPr>
      </p:pic>
    </p:spTree>
    <p:extLst>
      <p:ext uri="{BB962C8B-B14F-4D97-AF65-F5344CB8AC3E}">
        <p14:creationId xmlns:p14="http://schemas.microsoft.com/office/powerpoint/2010/main" val="34223584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Damask</Template>
  <TotalTime>249</TotalTime>
  <Words>373</Words>
  <Application>Microsoft Office PowerPoint</Application>
  <PresentationFormat>Widescreen</PresentationFormat>
  <Paragraphs>13</Paragraphs>
  <Slides>13</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Bookman Old Style</vt:lpstr>
      <vt:lpstr>Rockwell</vt:lpstr>
      <vt:lpstr>Damask</vt:lpstr>
      <vt:lpstr>Music Store</vt:lpstr>
      <vt:lpstr>PowerPoint Presentation</vt:lpstr>
      <vt:lpstr>1. Who is the senior most employee based on job title?</vt:lpstr>
      <vt:lpstr>2. Which countries have the most Invoices? </vt:lpstr>
      <vt:lpstr>3. What are top 3 values of total invoice?</vt:lpstr>
      <vt:lpstr>4. Which city has the best customers? We would like to throw a promotional Music Festival in the city we made the most money. Write a query that returns one city that has the highest sum of invoice totals. Return both the city name &amp; sum of all invoice totals</vt:lpstr>
      <vt:lpstr>5. Who is the best customer? The customer who has spent the most money will be declared the best customer. Write a query that returns the person who has spent the most money</vt:lpstr>
      <vt:lpstr>1. Write query to return the email, first name, last name, &amp; Genre of all Rock Music listeners. Return your list ordered alphabetically by email starting with A</vt:lpstr>
      <vt:lpstr>2. Let's invite the artists who have written the most rock music in our dataset. Write a query that returns the Artist name and total track count of the top 10 rock bands </vt:lpstr>
      <vt:lpstr>3. Return all the track names that have a song length longer than the average song length. Return the Name and Milliseconds for each track. Order by the song length with the longest songs listed first</vt:lpstr>
      <vt:lpstr>1. Find how much amount spent by each customer on artists? Write a query to return customer name, artist name and total spent </vt:lpstr>
      <vt:lpstr>2. We want to find out the most popular music Genre for each country. We determine the most popular genre as the genre with the highest amount of purchases. Write a query that returns each country along with the top Genre. For countries where the maximum number of purchases is shared return all Genres </vt:lpstr>
      <vt:lpstr>3. Write a query that determines the customer that has spent the most on music for each country. Write a query that returns the country along with the top customer and how much they spent. For countries where the top amount spent is shared, provide all customers who spent this amount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Music Store</dc:title>
  <dc:creator>rajat saxena</dc:creator>
  <cp:lastModifiedBy>ADMIN</cp:lastModifiedBy>
  <cp:revision>13</cp:revision>
  <dcterms:created xsi:type="dcterms:W3CDTF">2025-05-14T11:24:43Z</dcterms:created>
  <dcterms:modified xsi:type="dcterms:W3CDTF">2026-03-02T10:29:21Z</dcterms:modified>
</cp:coreProperties>
</file>